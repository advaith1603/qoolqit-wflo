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0B0B"/>
                </a:solidFill>
                <a:latin typeface="Calibri"/>
              </a:rPr>
              <a:t>Emulated Rydberg atoms solve native wakes, not long directional ones</a:t>
            </a:r>
          </a:p>
        </p:txBody>
      </p:sp>
      <p:sp>
        <p:nvSpPr>
          <p:cNvPr id="3" name="Ladder R0"/>
          <p:cNvSpPr/>
          <p:nvPr/>
        </p:nvSpPr>
        <p:spPr>
          <a:xfrm>
            <a:off x="457200" y="10972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dder R0 text"/>
          <p:cNvSpPr txBox="1"/>
          <p:nvPr/>
        </p:nvSpPr>
        <p:spPr>
          <a:xfrm>
            <a:off x="621792" y="1170432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</a:rPr>
              <a:t>R0</a:t>
            </a:r>
            <a:r>
              <a:rPr sz="1200" b="0">
                <a:solidFill>
                  <a:srgbClr val="898781"/>
                </a:solidFill>
                <a:latin typeface="Calibri"/>
              </a:rPr>
              <a:t>  published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x = 1, r = 1.5, uniform wind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79 optima = king-graph MIS</a:t>
            </a:r>
          </a:p>
        </p:txBody>
      </p:sp>
      <p:sp>
        <p:nvSpPr>
          <p:cNvPr id="5" name="Chevron 4"/>
          <p:cNvSpPr/>
          <p:nvPr/>
        </p:nvSpPr>
        <p:spPr>
          <a:xfrm>
            <a:off x="3127248" y="1463040"/>
            <a:ext cx="118872" cy="201168"/>
          </a:xfrm>
          <a:prstGeom prst="chevron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dder R1"/>
          <p:cNvSpPr/>
          <p:nvPr/>
        </p:nvSpPr>
        <p:spPr>
          <a:xfrm>
            <a:off x="3291840" y="10972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B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dder R1 text"/>
          <p:cNvSpPr txBox="1"/>
          <p:nvPr/>
        </p:nvSpPr>
        <p:spPr>
          <a:xfrm>
            <a:off x="3456432" y="1170432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</a:rPr>
              <a:t>R1</a:t>
            </a:r>
            <a:r>
              <a:rPr sz="1200" b="0">
                <a:solidFill>
                  <a:srgbClr val="898781"/>
                </a:solidFill>
                <a:latin typeface="Calibri"/>
              </a:rPr>
              <a:t>  ours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x = 3, r = 1, uniform wind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1 optimum (four corners)</a:t>
            </a:r>
          </a:p>
        </p:txBody>
      </p:sp>
      <p:sp>
        <p:nvSpPr>
          <p:cNvPr id="8" name="Chevron 7"/>
          <p:cNvSpPr/>
          <p:nvPr/>
        </p:nvSpPr>
        <p:spPr>
          <a:xfrm>
            <a:off x="5961888" y="1463040"/>
            <a:ext cx="118872" cy="201168"/>
          </a:xfrm>
          <a:prstGeom prst="chevron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dder R2"/>
          <p:cNvSpPr/>
          <p:nvPr/>
        </p:nvSpPr>
        <p:spPr>
          <a:xfrm>
            <a:off x="6126480" y="10972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2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dder R2 text"/>
          <p:cNvSpPr txBox="1"/>
          <p:nvPr/>
        </p:nvSpPr>
        <p:spPr>
          <a:xfrm>
            <a:off x="6291072" y="1170432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</a:rPr>
              <a:t>R2</a:t>
            </a:r>
            <a:r>
              <a:rPr sz="1200" b="0">
                <a:solidFill>
                  <a:srgbClr val="898781"/>
                </a:solidFill>
                <a:latin typeface="Calibri"/>
              </a:rPr>
              <a:t>  ours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x = 1, r = 1.5, 75% from west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same 79 optima as R0</a:t>
            </a:r>
          </a:p>
        </p:txBody>
      </p:sp>
      <p:sp>
        <p:nvSpPr>
          <p:cNvPr id="11" name="Chevron 10"/>
          <p:cNvSpPr/>
          <p:nvPr/>
        </p:nvSpPr>
        <p:spPr>
          <a:xfrm>
            <a:off x="8796528" y="1463040"/>
            <a:ext cx="118872" cy="201168"/>
          </a:xfrm>
          <a:prstGeom prst="chevron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dder R3"/>
          <p:cNvSpPr/>
          <p:nvPr/>
        </p:nvSpPr>
        <p:spPr>
          <a:xfrm>
            <a:off x="8961120" y="10972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B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dder R3 text"/>
          <p:cNvSpPr txBox="1"/>
          <p:nvPr/>
        </p:nvSpPr>
        <p:spPr>
          <a:xfrm>
            <a:off x="9125712" y="1170432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</a:rPr>
              <a:t>R3</a:t>
            </a:r>
            <a:r>
              <a:rPr sz="1200" b="0">
                <a:solidFill>
                  <a:srgbClr val="898781"/>
                </a:solidFill>
                <a:latin typeface="Calibri"/>
              </a:rPr>
              <a:t>  ours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x = 3, r = 1, 75% from west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2 optima, not MIS</a:t>
            </a:r>
          </a:p>
        </p:txBody>
      </p:sp>
      <p:sp>
        <p:nvSpPr>
          <p:cNvPr id="14" name="Ladder caption"/>
          <p:cNvSpPr txBox="1"/>
          <p:nvPr/>
        </p:nvSpPr>
        <p:spPr>
          <a:xfrm>
            <a:off x="457200" y="2075688"/>
            <a:ext cx="11247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Calibri"/>
              </a:rPr>
              <a:t>Rydberg-native  →  increasingly non-native wake physics (wake length x, spread r, wind regime)</a:t>
            </a:r>
          </a:p>
        </p:txBody>
      </p:sp>
      <p:pic>
        <p:nvPicPr>
          <p:cNvPr id="15" name="S vs rung plot" descr="s_vs_r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3160"/>
            <a:ext cx="5810083" cy="3840480"/>
          </a:xfrm>
          <a:prstGeom prst="rect">
            <a:avLst/>
          </a:prstGeom>
        </p:spPr>
      </p:pic>
      <p:sp>
        <p:nvSpPr>
          <p:cNvPr id="16" name="Stat 1"/>
          <p:cNvSpPr/>
          <p:nvPr/>
        </p:nvSpPr>
        <p:spPr>
          <a:xfrm>
            <a:off x="6400800" y="2423160"/>
            <a:ext cx="5303520" cy="116128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 1 number"/>
          <p:cNvSpPr txBox="1"/>
          <p:nvPr/>
        </p:nvSpPr>
        <p:spPr>
          <a:xfrm>
            <a:off x="6601968" y="2532888"/>
            <a:ext cx="205740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78D6"/>
                </a:solidFill>
                <a:latin typeface="Calibri"/>
              </a:rPr>
              <a:t>36/36</a:t>
            </a:r>
          </a:p>
        </p:txBody>
      </p:sp>
      <p:sp>
        <p:nvSpPr>
          <p:cNvPr id="18" name="Stat 1 label"/>
          <p:cNvSpPr txBox="1"/>
          <p:nvPr/>
        </p:nvSpPr>
        <p:spPr>
          <a:xfrm>
            <a:off x="8732520" y="2532888"/>
            <a:ext cx="278892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R0: the paper's selection rule picks an optimal layout in every run (S = 1.00). Published VQE means: S −0.33 to +0.11, about random.</a:t>
            </a:r>
          </a:p>
        </p:txBody>
      </p:sp>
      <p:sp>
        <p:nvSpPr>
          <p:cNvPr id="19" name="Stat 2"/>
          <p:cNvSpPr/>
          <p:nvPr/>
        </p:nvSpPr>
        <p:spPr>
          <a:xfrm>
            <a:off x="6400800" y="3721608"/>
            <a:ext cx="5303520" cy="116128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 2 number"/>
          <p:cNvSpPr txBox="1"/>
          <p:nvPr/>
        </p:nvSpPr>
        <p:spPr>
          <a:xfrm>
            <a:off x="6601968" y="3831336"/>
            <a:ext cx="205740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2A78D6"/>
                </a:solidFill>
                <a:latin typeface="Calibri"/>
              </a:rPr>
              <a:t>S = 0.89</a:t>
            </a:r>
          </a:p>
        </p:txBody>
      </p:sp>
      <p:sp>
        <p:nvSpPr>
          <p:cNvPr id="21" name="Stat 2 label"/>
          <p:cNvSpPr txBox="1"/>
          <p:nvPr/>
        </p:nvSpPr>
        <p:spPr>
          <a:xfrm>
            <a:off x="8732520" y="3831336"/>
            <a:ext cx="278892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R1: the same rung-blind program still has the optimum as its ground state; van der Waals tails mimic the long wake.</a:t>
            </a:r>
          </a:p>
        </p:txBody>
      </p:sp>
      <p:sp>
        <p:nvSpPr>
          <p:cNvPr id="22" name="Stat 3"/>
          <p:cNvSpPr/>
          <p:nvPr/>
        </p:nvSpPr>
        <p:spPr>
          <a:xfrm>
            <a:off x="6400800" y="5020056"/>
            <a:ext cx="5303520" cy="116128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 3 number"/>
          <p:cNvSpPr txBox="1"/>
          <p:nvPr/>
        </p:nvSpPr>
        <p:spPr>
          <a:xfrm>
            <a:off x="6601968" y="5129784"/>
            <a:ext cx="205740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EB6834"/>
                </a:solidFill>
                <a:latin typeface="Calibri"/>
              </a:rPr>
              <a:t>P(opt) ≈ 0</a:t>
            </a:r>
          </a:p>
        </p:txBody>
      </p:sp>
      <p:sp>
        <p:nvSpPr>
          <p:cNvPr id="24" name="Stat 3 label"/>
          <p:cNvSpPr txBox="1"/>
          <p:nvPr/>
        </p:nvSpPr>
        <p:spPr>
          <a:xfrm>
            <a:off x="8732520" y="5129784"/>
            <a:ext cx="278892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R3, every encoding below 0.001: scalable ones misrank the optimum; the one fit that ranks it well fails on dynamics. Both bottlenecks bind.</a:t>
            </a:r>
          </a:p>
        </p:txBody>
      </p:sp>
      <p:sp>
        <p:nvSpPr>
          <p:cNvPr id="25" name="Why it matters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</a:rPr>
              <a:t>Why it matters: </a:t>
            </a:r>
            <a:r>
              <a:rPr sz="1400" b="0">
                <a:solidFill>
                  <a:srgbClr val="52514E"/>
                </a:solidFill>
                <a:latin typeface="Calibri"/>
              </a:rPr>
              <a:t>it shows which wake models a neutral-atom array encodes natively, before spending QPU time.</a:t>
            </a:r>
          </a:p>
        </p:txBody>
      </p:sp>
      <p:sp>
        <p:nvSpPr>
          <p:cNvPr id="26" name="Source"/>
          <p:cNvSpPr txBox="1"/>
          <p:nvPr/>
        </p:nvSpPr>
        <p:spPr>
          <a:xfrm>
            <a:off x="457200" y="6601968"/>
            <a:ext cx="11247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98781"/>
                </a:solidFill>
                <a:latin typeface="Calibri"/>
              </a:rPr>
              <a:t>Noiseless emulation (QoolQit 1.4.0, emu-sv). S = 0 random layout, 1 optimal. Published: Hancock et al., arXiv:2312.13123. R1–R3 are our instances.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0B0B"/>
                </a:solidFill>
                <a:latin typeface="Calibri"/>
              </a:rPr>
              <a:t>QoolQit in practice, and a two-job QPU ask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61288"/>
            <a:ext cx="201168" cy="201168"/>
          </a:xfrm>
          <a:prstGeom prst="ellipse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hat helped header"/>
          <p:cNvSpPr txBox="1"/>
          <p:nvPr/>
        </p:nvSpPr>
        <p:spPr>
          <a:xfrm>
            <a:off x="777240" y="1097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0B0B"/>
                </a:solidFill>
                <a:latin typeface="Calibri"/>
              </a:rPr>
              <a:t>What helped</a:t>
            </a:r>
          </a:p>
        </p:txBody>
      </p:sp>
      <p:sp>
        <p:nvSpPr>
          <p:cNvPr id="5" name="What helped 1"/>
          <p:cNvSpPr/>
          <p:nvPr/>
        </p:nvSpPr>
        <p:spPr>
          <a:xfrm>
            <a:off x="457200" y="1645920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hat helped 1 text"/>
          <p:cNvSpPr txBox="1"/>
          <p:nvPr/>
        </p:nvSpPr>
        <p:spPr>
          <a:xfrm>
            <a:off x="640080" y="173736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</a:rPr>
              <a:t>One program, many devices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Dimensionless Register → Drive → QuantumProgram, compiled to AnalogDevice; the same program passes Orion Beta's limits.</a:t>
            </a:r>
          </a:p>
        </p:txBody>
      </p:sp>
      <p:sp>
        <p:nvSpPr>
          <p:cNvPr id="7" name="What helped 2"/>
          <p:cNvSpPr/>
          <p:nvPr/>
        </p:nvSpPr>
        <p:spPr>
          <a:xfrm>
            <a:off x="457200" y="2514600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hat helped 2 text"/>
          <p:cNvSpPr txBox="1"/>
          <p:nvPr/>
        </p:nvSpPr>
        <p:spPr>
          <a:xfrm>
            <a:off x="640080" y="260604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</a:rPr>
              <a:t>Exact, fast emulation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emu-sv agrees with QuTiP to 4e-5; a 16-atom run takes 8.8 s on GPU.</a:t>
            </a:r>
          </a:p>
        </p:txBody>
      </p:sp>
      <p:sp>
        <p:nvSpPr>
          <p:cNvPr id="9" name="What helped 3"/>
          <p:cNvSpPr/>
          <p:nvPr/>
        </p:nvSpPr>
        <p:spPr>
          <a:xfrm>
            <a:off x="457200" y="3383280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hat helped 3 text"/>
          <p:cNvSpPr txBox="1"/>
          <p:nvPr/>
        </p:nvSpPr>
        <p:spPr>
          <a:xfrm>
            <a:off x="640080" y="347472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</a:rPr>
              <a:t>Native MIS encoding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Blockade on a square grid solves the published instance with no QUBO embedding.</a:t>
            </a:r>
          </a:p>
        </p:txBody>
      </p:sp>
      <p:sp>
        <p:nvSpPr>
          <p:cNvPr id="11" name="What helped 4"/>
          <p:cNvSpPr/>
          <p:nvPr/>
        </p:nvSpPr>
        <p:spPr>
          <a:xfrm>
            <a:off x="457200" y="4251959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hat helped 4 text"/>
          <p:cNvSpPr txBox="1"/>
          <p:nvPr/>
        </p:nvSpPr>
        <p:spPr>
          <a:xfrm>
            <a:off x="640080" y="4343399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</a:rPr>
              <a:t>Device limits in code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AnalogDevice specs (spacing, radius, amplitude, duration) are readable, so every program is checked before it runs.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161288"/>
            <a:ext cx="201168" cy="201168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hat we hit header"/>
          <p:cNvSpPr txBox="1"/>
          <p:nvPr/>
        </p:nvSpPr>
        <p:spPr>
          <a:xfrm>
            <a:off x="6492240" y="1097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0B0B"/>
                </a:solidFill>
                <a:latin typeface="Calibri"/>
              </a:rPr>
              <a:t>What we hit</a:t>
            </a:r>
          </a:p>
        </p:txBody>
      </p:sp>
      <p:sp>
        <p:nvSpPr>
          <p:cNvPr id="15" name="What we hit 1"/>
          <p:cNvSpPr/>
          <p:nvPr/>
        </p:nvSpPr>
        <p:spPr>
          <a:xfrm>
            <a:off x="6172200" y="1645920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hat we hit 1 text"/>
          <p:cNvSpPr txBox="1"/>
          <p:nvPr/>
        </p:nvSpPr>
        <p:spPr>
          <a:xfrm>
            <a:off x="6355080" y="173736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</a:rPr>
              <a:t>24-atom cap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LocalEmulator + emu-sv cannot sample above 24 atoms (torch.multinomial 2²⁴): 5×5 dropped.</a:t>
            </a:r>
          </a:p>
        </p:txBody>
      </p:sp>
      <p:sp>
        <p:nvSpPr>
          <p:cNvPr id="17" name="What we hit 2"/>
          <p:cNvSpPr/>
          <p:nvPr/>
        </p:nvSpPr>
        <p:spPr>
          <a:xfrm>
            <a:off x="6172200" y="2514600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What we hit 2 text"/>
          <p:cNvSpPr txBox="1"/>
          <p:nvPr/>
        </p:nvSpPr>
        <p:spPr>
          <a:xfrm>
            <a:off x="6355080" y="260604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</a:rPr>
              <a:t>Radius measured from the origin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max_radial_distance ignores the register centre; registers must be centred.</a:t>
            </a:r>
          </a:p>
        </p:txBody>
      </p:sp>
      <p:sp>
        <p:nvSpPr>
          <p:cNvPr id="19" name="What we hit 3"/>
          <p:cNvSpPr/>
          <p:nvPr/>
        </p:nvSpPr>
        <p:spPr>
          <a:xfrm>
            <a:off x="6172200" y="3383280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hat we hit 3 text"/>
          <p:cNvSpPr txBox="1"/>
          <p:nvPr/>
        </p:nvSpPr>
        <p:spPr>
          <a:xfrm>
            <a:off x="6355080" y="347472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</a:rPr>
              <a:t>No QUBO tooling in 1.4.0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QUBOInstance and AdiabaticDriveShaper are absent; we wrote our own L-BFGS embedding.</a:t>
            </a:r>
          </a:p>
        </p:txBody>
      </p:sp>
      <p:sp>
        <p:nvSpPr>
          <p:cNvPr id="21" name="What we hit 4"/>
          <p:cNvSpPr/>
          <p:nvPr/>
        </p:nvSpPr>
        <p:spPr>
          <a:xfrm>
            <a:off x="6172200" y="4251959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What we hit 4 text"/>
          <p:cNvSpPr txBox="1"/>
          <p:nvPr/>
        </p:nvSpPr>
        <p:spPr>
          <a:xfrm>
            <a:off x="6355080" y="4343399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</a:rPr>
              <a:t>Exact spacing check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A spacing of exactly 1.0 fails compile_to after rounding; rescale to 1 + 10⁻⁶.</a:t>
            </a:r>
          </a:p>
        </p:txBody>
      </p:sp>
      <p:sp>
        <p:nvSpPr>
          <p:cNvPr id="23" name="QPU ask"/>
          <p:cNvSpPr/>
          <p:nvPr/>
        </p:nvSpPr>
        <p:spPr>
          <a:xfrm>
            <a:off x="457200" y="5257800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QPU ask numbers"/>
          <p:cNvSpPr txBox="1"/>
          <p:nvPr/>
        </p:nvSpPr>
        <p:spPr>
          <a:xfrm>
            <a:off x="685800" y="5394960"/>
            <a:ext cx="3017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78D6"/>
                </a:solidFill>
                <a:latin typeface="Calibri"/>
              </a:rPr>
              <a:t>QPU ask</a:t>
            </a:r>
          </a:p>
          <a:p>
            <a:pPr algn="l"/>
            <a:r>
              <a:rPr sz="2000" b="1">
                <a:solidFill>
                  <a:srgbClr val="0B0B0B"/>
                </a:solidFill>
                <a:latin typeface="Calibri"/>
              </a:rPr>
              <a:t>2 jobs × 500 shots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≈ 67 min at 0.25 Hz (Orion Beta)</a:t>
            </a:r>
          </a:p>
        </p:txBody>
      </p:sp>
      <p:sp>
        <p:nvSpPr>
          <p:cNvPr id="25" name="QPU ask detail"/>
          <p:cNvSpPr txBox="1"/>
          <p:nvPr/>
        </p:nvSpPr>
        <p:spPr>
          <a:xfrm>
            <a:off x="3931920" y="5394960"/>
            <a:ext cx="7589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One Encoding A program, scored for R0 and R1.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R0: emulator-vs-QPU gap on a native instance (predicted P(opt) ≈ 0.52 with SPAM errors).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R1: does the van der Waals tail effect survive? (four corners predicted most probable, P ≈ 0.23 vs 0.02).</a:t>
            </a:r>
          </a:p>
        </p:txBody>
      </p:sp>
      <p:sp>
        <p:nvSpPr>
          <p:cNvPr id="26" name="Source"/>
          <p:cNvSpPr txBox="1"/>
          <p:nvPr/>
        </p:nvSpPr>
        <p:spPr>
          <a:xfrm>
            <a:off x="457200" y="6601968"/>
            <a:ext cx="11247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98781"/>
                </a:solidFill>
                <a:latin typeface="Calibri"/>
              </a:rPr>
              <a:t>Failure log: 16 entries in the notebook. Device figures: Pasqal, Technical Overview for Advanced Users, Orion Beta (2025). SPAM values: De Léséleuc et al.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